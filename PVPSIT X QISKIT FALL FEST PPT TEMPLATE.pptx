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5" r:id="rId9"/>
  </p:sldIdLst>
  <p:sldSz cx="18288000" cy="10287000"/>
  <p:notesSz cx="6858000" cy="9144000"/>
  <p:embeddedFontLst>
    <p:embeddedFont>
      <p:font typeface="IBM Plex Sans" panose="020B0503050203000203" pitchFamily="3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940" y="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4.jpe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58471" y="2911366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12140647" y="2730987"/>
            <a:ext cx="5634028" cy="6185198"/>
            <a:chOff x="0" y="0"/>
            <a:chExt cx="15229294" cy="167191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5229332" cy="16719131"/>
            </a:xfrm>
            <a:custGeom>
              <a:avLst/>
              <a:gdLst/>
              <a:ahLst/>
              <a:cxnLst/>
              <a:rect l="l" t="t" r="r" b="b"/>
              <a:pathLst>
                <a:path w="15229332" h="16719131">
                  <a:moveTo>
                    <a:pt x="1287347" y="0"/>
                  </a:moveTo>
                  <a:lnTo>
                    <a:pt x="13941985" y="0"/>
                  </a:lnTo>
                  <a:cubicBezTo>
                    <a:pt x="14283410" y="0"/>
                    <a:pt x="14610852" y="135631"/>
                    <a:pt x="14852276" y="377055"/>
                  </a:cubicBezTo>
                  <a:cubicBezTo>
                    <a:pt x="15093702" y="618480"/>
                    <a:pt x="15229332" y="945922"/>
                    <a:pt x="15229332" y="1287347"/>
                  </a:cubicBezTo>
                  <a:lnTo>
                    <a:pt x="15229332" y="15431784"/>
                  </a:lnTo>
                  <a:cubicBezTo>
                    <a:pt x="15229332" y="15773209"/>
                    <a:pt x="15093702" y="16100651"/>
                    <a:pt x="14852276" y="16342077"/>
                  </a:cubicBezTo>
                  <a:cubicBezTo>
                    <a:pt x="14610852" y="16583501"/>
                    <a:pt x="14283410" y="16719131"/>
                    <a:pt x="13941985" y="16719131"/>
                  </a:cubicBezTo>
                  <a:lnTo>
                    <a:pt x="1287347" y="16719131"/>
                  </a:lnTo>
                  <a:cubicBezTo>
                    <a:pt x="945922" y="16719131"/>
                    <a:pt x="618480" y="16583501"/>
                    <a:pt x="377055" y="16342077"/>
                  </a:cubicBezTo>
                  <a:cubicBezTo>
                    <a:pt x="135631" y="16100651"/>
                    <a:pt x="0" y="15773209"/>
                    <a:pt x="0" y="15431784"/>
                  </a:cubicBezTo>
                  <a:lnTo>
                    <a:pt x="0" y="1287347"/>
                  </a:lnTo>
                  <a:cubicBezTo>
                    <a:pt x="0" y="945922"/>
                    <a:pt x="135631" y="618480"/>
                    <a:pt x="377055" y="377055"/>
                  </a:cubicBezTo>
                  <a:cubicBezTo>
                    <a:pt x="618480" y="135631"/>
                    <a:pt x="945922" y="0"/>
                    <a:pt x="1287347" y="0"/>
                  </a:cubicBezTo>
                  <a:close/>
                </a:path>
              </a:pathLst>
            </a:custGeom>
            <a:blipFill>
              <a:blip r:embed="rId3"/>
              <a:stretch>
                <a:fillRect t="-67" b="-67"/>
              </a:stretch>
            </a:blipFill>
            <a:ln w="38100" cap="rnd">
              <a:solidFill>
                <a:srgbClr val="471B2B"/>
              </a:solidFill>
              <a:prstDash val="solid"/>
              <a:round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491128" y="4301489"/>
            <a:ext cx="3086100" cy="613411"/>
            <a:chOff x="0" y="0"/>
            <a:chExt cx="812800" cy="1615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161557"/>
            </a:xfrm>
            <a:custGeom>
              <a:avLst/>
              <a:gdLst/>
              <a:ahLst/>
              <a:cxnLst/>
              <a:rect l="l" t="t" r="r" b="b"/>
              <a:pathLst>
                <a:path w="812800" h="161557">
                  <a:moveTo>
                    <a:pt x="80778" y="0"/>
                  </a:moveTo>
                  <a:lnTo>
                    <a:pt x="732022" y="0"/>
                  </a:lnTo>
                  <a:cubicBezTo>
                    <a:pt x="776634" y="0"/>
                    <a:pt x="812800" y="36166"/>
                    <a:pt x="812800" y="80778"/>
                  </a:cubicBezTo>
                  <a:lnTo>
                    <a:pt x="812800" y="80778"/>
                  </a:lnTo>
                  <a:cubicBezTo>
                    <a:pt x="812800" y="102202"/>
                    <a:pt x="804289" y="122749"/>
                    <a:pt x="789141" y="137897"/>
                  </a:cubicBezTo>
                  <a:cubicBezTo>
                    <a:pt x="773992" y="153046"/>
                    <a:pt x="753445" y="161557"/>
                    <a:pt x="732022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28575"/>
              <a:ext cx="812800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1128" y="5253037"/>
            <a:ext cx="4142956" cy="613411"/>
            <a:chOff x="0" y="0"/>
            <a:chExt cx="1091149" cy="161557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91149" cy="161557"/>
            </a:xfrm>
            <a:custGeom>
              <a:avLst/>
              <a:gdLst/>
              <a:ahLst/>
              <a:cxnLst/>
              <a:rect l="l" t="t" r="r" b="b"/>
              <a:pathLst>
                <a:path w="1091149" h="161557">
                  <a:moveTo>
                    <a:pt x="80778" y="0"/>
                  </a:moveTo>
                  <a:lnTo>
                    <a:pt x="1010370" y="0"/>
                  </a:lnTo>
                  <a:cubicBezTo>
                    <a:pt x="1054983" y="0"/>
                    <a:pt x="1091149" y="36166"/>
                    <a:pt x="1091149" y="80778"/>
                  </a:cubicBezTo>
                  <a:lnTo>
                    <a:pt x="1091149" y="80778"/>
                  </a:lnTo>
                  <a:cubicBezTo>
                    <a:pt x="1091149" y="102202"/>
                    <a:pt x="1082638" y="122749"/>
                    <a:pt x="1067489" y="137897"/>
                  </a:cubicBezTo>
                  <a:cubicBezTo>
                    <a:pt x="1052340" y="153046"/>
                    <a:pt x="1031794" y="161557"/>
                    <a:pt x="1010370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1091149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91128" y="6152199"/>
            <a:ext cx="3599620" cy="626981"/>
            <a:chOff x="0" y="0"/>
            <a:chExt cx="607385" cy="161557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607385" cy="161557"/>
            </a:xfrm>
            <a:custGeom>
              <a:avLst/>
              <a:gdLst/>
              <a:ahLst/>
              <a:cxnLst/>
              <a:rect l="l" t="t" r="r" b="b"/>
              <a:pathLst>
                <a:path w="607385" h="161557">
                  <a:moveTo>
                    <a:pt x="80778" y="0"/>
                  </a:moveTo>
                  <a:lnTo>
                    <a:pt x="526607" y="0"/>
                  </a:lnTo>
                  <a:cubicBezTo>
                    <a:pt x="571220" y="0"/>
                    <a:pt x="607385" y="36166"/>
                    <a:pt x="607385" y="80778"/>
                  </a:cubicBezTo>
                  <a:lnTo>
                    <a:pt x="607385" y="80778"/>
                  </a:lnTo>
                  <a:cubicBezTo>
                    <a:pt x="607385" y="102202"/>
                    <a:pt x="598875" y="122749"/>
                    <a:pt x="583726" y="137897"/>
                  </a:cubicBezTo>
                  <a:cubicBezTo>
                    <a:pt x="568577" y="153046"/>
                    <a:pt x="548031" y="161557"/>
                    <a:pt x="526607" y="161557"/>
                  </a:cubicBezTo>
                  <a:lnTo>
                    <a:pt x="80778" y="161557"/>
                  </a:lnTo>
                  <a:cubicBezTo>
                    <a:pt x="36166" y="161557"/>
                    <a:pt x="0" y="125391"/>
                    <a:pt x="0" y="80778"/>
                  </a:cubicBezTo>
                  <a:lnTo>
                    <a:pt x="0" y="80778"/>
                  </a:lnTo>
                  <a:cubicBezTo>
                    <a:pt x="0" y="36166"/>
                    <a:pt x="36166" y="0"/>
                    <a:pt x="80778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0" y="-28575"/>
              <a:ext cx="607385" cy="1901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91128" y="7046598"/>
            <a:ext cx="5382396" cy="641986"/>
            <a:chOff x="0" y="0"/>
            <a:chExt cx="1417586" cy="16908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417586" cy="169083"/>
            </a:xfrm>
            <a:custGeom>
              <a:avLst/>
              <a:gdLst/>
              <a:ahLst/>
              <a:cxnLst/>
              <a:rect l="l" t="t" r="r" b="b"/>
              <a:pathLst>
                <a:path w="1417586" h="169083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29" name="Freeform 29"/>
          <p:cNvSpPr/>
          <p:nvPr/>
        </p:nvSpPr>
        <p:spPr>
          <a:xfrm>
            <a:off x="13040466" y="491958"/>
            <a:ext cx="5063940" cy="701725"/>
          </a:xfrm>
          <a:custGeom>
            <a:avLst/>
            <a:gdLst/>
            <a:ahLst/>
            <a:cxnLst/>
            <a:rect l="l" t="t" r="r" b="b"/>
            <a:pathLst>
              <a:path w="5063940" h="701725">
                <a:moveTo>
                  <a:pt x="0" y="0"/>
                </a:moveTo>
                <a:lnTo>
                  <a:pt x="5063940" y="0"/>
                </a:lnTo>
                <a:lnTo>
                  <a:pt x="5063940" y="701725"/>
                </a:lnTo>
                <a:lnTo>
                  <a:pt x="0" y="7017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83680" b="-92978"/>
            </a:stretch>
          </a:blipFill>
        </p:spPr>
      </p:sp>
      <p:sp>
        <p:nvSpPr>
          <p:cNvPr id="35" name="TextBox 35"/>
          <p:cNvSpPr txBox="1"/>
          <p:nvPr/>
        </p:nvSpPr>
        <p:spPr>
          <a:xfrm>
            <a:off x="756518" y="4263389"/>
            <a:ext cx="2571155" cy="580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Name: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37468" y="5200650"/>
            <a:ext cx="3896616" cy="5980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Team Lead Name: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71876" y="6085524"/>
            <a:ext cx="3318872" cy="5851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Idea / Concept:  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756518" y="7008498"/>
            <a:ext cx="5016937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</a:pPr>
            <a:r>
              <a:rPr lang="en-US" sz="34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 Statement title: </a:t>
            </a:r>
          </a:p>
        </p:txBody>
      </p:sp>
      <p:pic>
        <p:nvPicPr>
          <p:cNvPr id="1026" name="Picture 2" descr="DEPT OF IT @PVPSIT,VIJAYAWADA | LinkedIn">
            <a:extLst>
              <a:ext uri="{FF2B5EF4-FFF2-40B4-BE49-F238E27FC236}">
                <a16:creationId xmlns:a16="http://schemas.microsoft.com/office/drawing/2014/main" id="{7CD687E0-D303-8585-3E00-A72C4A8A99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28" y="68157"/>
            <a:ext cx="1905000" cy="248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32028526-5C2E-BDAA-5400-7DAEF1747D80}"/>
              </a:ext>
            </a:extLst>
          </p:cNvPr>
          <p:cNvSpPr txBox="1"/>
          <p:nvPr/>
        </p:nvSpPr>
        <p:spPr>
          <a:xfrm>
            <a:off x="3733800" y="381155"/>
            <a:ext cx="99441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de-DE" sz="5400" b="1" i="0" dirty="0">
                <a:solidFill>
                  <a:srgbClr val="1D1636"/>
                </a:solidFill>
                <a:effectLst/>
                <a:latin typeface="Plus Jakarta Sans"/>
              </a:rPr>
              <a:t>PVPSIT </a:t>
            </a:r>
            <a:r>
              <a:rPr lang="de-DE" sz="5400" b="1" i="0" dirty="0">
                <a:solidFill>
                  <a:srgbClr val="AC2471"/>
                </a:solidFill>
                <a:effectLst/>
                <a:latin typeface="Plus Jakarta Sans"/>
              </a:rPr>
              <a:t>x</a:t>
            </a:r>
            <a:r>
              <a:rPr lang="de-DE" sz="5400" b="1" i="0" dirty="0">
                <a:solidFill>
                  <a:srgbClr val="1D1636"/>
                </a:solidFill>
                <a:effectLst/>
                <a:latin typeface="Plus Jakarta Sans"/>
              </a:rPr>
              <a:t> Qiskit Fall Fest 2026</a:t>
            </a:r>
          </a:p>
          <a:p>
            <a:pPr algn="l">
              <a:buNone/>
            </a:pPr>
            <a:r>
              <a:rPr lang="de-DE" sz="5400" b="1" dirty="0">
                <a:solidFill>
                  <a:srgbClr val="1D1636"/>
                </a:solidFill>
                <a:latin typeface="Plus Jakarta Sans"/>
              </a:rPr>
              <a:t>           PPT PRESENTATION</a:t>
            </a:r>
            <a:endParaRPr lang="de-DE" sz="5400" b="1" i="0" dirty="0">
              <a:solidFill>
                <a:srgbClr val="1D1636"/>
              </a:solidFill>
              <a:effectLst/>
              <a:latin typeface="Plus Jakarta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85800" y="4328876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211399" y="1893761"/>
            <a:ext cx="3009085" cy="641986"/>
            <a:chOff x="0" y="0"/>
            <a:chExt cx="792516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92516" cy="169083"/>
            </a:xfrm>
            <a:custGeom>
              <a:avLst/>
              <a:gdLst/>
              <a:ahLst/>
              <a:cxnLst/>
              <a:rect l="l" t="t" r="r" b="b"/>
              <a:pathLst>
                <a:path w="792516" h="169083">
                  <a:moveTo>
                    <a:pt x="84541" y="0"/>
                  </a:moveTo>
                  <a:lnTo>
                    <a:pt x="707975" y="0"/>
                  </a:lnTo>
                  <a:cubicBezTo>
                    <a:pt x="730397" y="0"/>
                    <a:pt x="751900" y="8907"/>
                    <a:pt x="767755" y="24762"/>
                  </a:cubicBezTo>
                  <a:cubicBezTo>
                    <a:pt x="783609" y="40616"/>
                    <a:pt x="792516" y="62120"/>
                    <a:pt x="792516" y="84541"/>
                  </a:cubicBezTo>
                  <a:lnTo>
                    <a:pt x="792516" y="84541"/>
                  </a:lnTo>
                  <a:cubicBezTo>
                    <a:pt x="792516" y="106963"/>
                    <a:pt x="783609" y="128467"/>
                    <a:pt x="767755" y="144321"/>
                  </a:cubicBezTo>
                  <a:cubicBezTo>
                    <a:pt x="751900" y="160176"/>
                    <a:pt x="730397" y="169083"/>
                    <a:pt x="70797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79251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7969539" y="1887413"/>
            <a:ext cx="1680026" cy="5128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  <a:spcBef>
                <a:spcPct val="0"/>
              </a:spcBef>
            </a:pPr>
            <a:r>
              <a:rPr lang="en-US" sz="30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Problem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954018" y="4742774"/>
            <a:ext cx="10628591" cy="16167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problem are you solving?</a:t>
            </a:r>
          </a:p>
          <a:p>
            <a:pPr algn="ctr">
              <a:lnSpc>
                <a:spcPts val="4339"/>
              </a:lnSpc>
            </a:pPr>
            <a:r>
              <a:rPr lang="en-US" sz="3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Clearly define the problem and the context in which it exists.</a:t>
            </a:r>
          </a:p>
          <a:p>
            <a:pPr algn="ctr">
              <a:lnSpc>
                <a:spcPts val="4339"/>
              </a:lnSpc>
              <a:spcBef>
                <a:spcPct val="0"/>
              </a:spcBef>
            </a:pPr>
            <a:endParaRPr lang="en-US" sz="3099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5" name="Picture 2" descr="DEPT OF IT @PVPSIT,VIJAYAWADA | LinkedIn">
            <a:extLst>
              <a:ext uri="{FF2B5EF4-FFF2-40B4-BE49-F238E27FC236}">
                <a16:creationId xmlns:a16="http://schemas.microsoft.com/office/drawing/2014/main" id="{9EF2A5AC-CE0F-57B9-6B41-37F609190A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28" y="68157"/>
            <a:ext cx="1905000" cy="248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20">
            <a:extLst>
              <a:ext uri="{FF2B5EF4-FFF2-40B4-BE49-F238E27FC236}">
                <a16:creationId xmlns:a16="http://schemas.microsoft.com/office/drawing/2014/main" id="{5CD9984A-251B-872C-BFC7-E21E1A28862C}"/>
              </a:ext>
            </a:extLst>
          </p:cNvPr>
          <p:cNvGrpSpPr/>
          <p:nvPr/>
        </p:nvGrpSpPr>
        <p:grpSpPr>
          <a:xfrm>
            <a:off x="13002366" y="7979581"/>
            <a:ext cx="1365659" cy="1173861"/>
            <a:chOff x="0" y="0"/>
            <a:chExt cx="4028567" cy="3462782"/>
          </a:xfrm>
        </p:grpSpPr>
        <p:sp>
          <p:nvSpPr>
            <p:cNvPr id="9" name="Freeform 21">
              <a:extLst>
                <a:ext uri="{FF2B5EF4-FFF2-40B4-BE49-F238E27FC236}">
                  <a16:creationId xmlns:a16="http://schemas.microsoft.com/office/drawing/2014/main" id="{5BFFE09E-AAFF-2E60-3ED0-6C615ED86D7C}"/>
                </a:ext>
              </a:extLst>
            </p:cNvPr>
            <p:cNvSpPr/>
            <p:nvPr/>
          </p:nvSpPr>
          <p:spPr>
            <a:xfrm>
              <a:off x="0" y="0"/>
              <a:ext cx="4028567" cy="3462782"/>
            </a:xfrm>
            <a:custGeom>
              <a:avLst/>
              <a:gdLst/>
              <a:ahLst/>
              <a:cxnLst/>
              <a:rect l="l" t="t" r="r" b="b"/>
              <a:pathLst>
                <a:path w="4028567" h="3462782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443628" y="885900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4680525" y="8420100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993915" y="1893761"/>
            <a:ext cx="3272797" cy="641986"/>
            <a:chOff x="0" y="0"/>
            <a:chExt cx="861971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61971" cy="169083"/>
            </a:xfrm>
            <a:custGeom>
              <a:avLst/>
              <a:gdLst/>
              <a:ahLst/>
              <a:cxnLst/>
              <a:rect l="l" t="t" r="r" b="b"/>
              <a:pathLst>
                <a:path w="861971" h="169083">
                  <a:moveTo>
                    <a:pt x="84541" y="0"/>
                  </a:moveTo>
                  <a:lnTo>
                    <a:pt x="777430" y="0"/>
                  </a:lnTo>
                  <a:cubicBezTo>
                    <a:pt x="799852" y="0"/>
                    <a:pt x="821355" y="8907"/>
                    <a:pt x="837210" y="24762"/>
                  </a:cubicBezTo>
                  <a:cubicBezTo>
                    <a:pt x="853064" y="40616"/>
                    <a:pt x="861971" y="62120"/>
                    <a:pt x="861971" y="84541"/>
                  </a:cubicBezTo>
                  <a:lnTo>
                    <a:pt x="861971" y="84541"/>
                  </a:lnTo>
                  <a:cubicBezTo>
                    <a:pt x="861971" y="106963"/>
                    <a:pt x="853064" y="128467"/>
                    <a:pt x="837210" y="144321"/>
                  </a:cubicBezTo>
                  <a:cubicBezTo>
                    <a:pt x="821355" y="160176"/>
                    <a:pt x="799852" y="169083"/>
                    <a:pt x="777430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861971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4627768" y="3086100"/>
            <a:ext cx="1365659" cy="1173861"/>
            <a:chOff x="0" y="0"/>
            <a:chExt cx="4028567" cy="346278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3462782"/>
            </a:xfrm>
            <a:custGeom>
              <a:avLst/>
              <a:gdLst/>
              <a:ahLst/>
              <a:cxnLst/>
              <a:rect l="l" t="t" r="r" b="b"/>
              <a:pathLst>
                <a:path w="4028567" h="3462782">
                  <a:moveTo>
                    <a:pt x="0" y="0"/>
                  </a:moveTo>
                  <a:lnTo>
                    <a:pt x="4028567" y="0"/>
                  </a:lnTo>
                  <a:lnTo>
                    <a:pt x="4028567" y="3462782"/>
                  </a:lnTo>
                  <a:lnTo>
                    <a:pt x="0" y="34627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514703" y="1944244"/>
            <a:ext cx="2544712" cy="453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It Matters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899416" y="4839970"/>
            <a:ext cx="10489168" cy="1019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Who faces this problem and why is it important?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 the significance and relevance of solving the problem.</a:t>
            </a:r>
          </a:p>
        </p:txBody>
      </p:sp>
      <p:pic>
        <p:nvPicPr>
          <p:cNvPr id="25" name="Picture 2" descr="DEPT OF IT @PVPSIT,VIJAYAWADA | LinkedIn">
            <a:extLst>
              <a:ext uri="{FF2B5EF4-FFF2-40B4-BE49-F238E27FC236}">
                <a16:creationId xmlns:a16="http://schemas.microsoft.com/office/drawing/2014/main" id="{97E00003-BC3B-1400-4A1B-992502192D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28" y="68157"/>
            <a:ext cx="1905000" cy="248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9" name="Group 20">
            <a:extLst>
              <a:ext uri="{FF2B5EF4-FFF2-40B4-BE49-F238E27FC236}">
                <a16:creationId xmlns:a16="http://schemas.microsoft.com/office/drawing/2014/main" id="{B7D561E4-7893-A595-4F58-D1202AB887EF}"/>
              </a:ext>
            </a:extLst>
          </p:cNvPr>
          <p:cNvGrpSpPr/>
          <p:nvPr/>
        </p:nvGrpSpPr>
        <p:grpSpPr>
          <a:xfrm>
            <a:off x="16793620" y="4528561"/>
            <a:ext cx="1467166" cy="1525339"/>
            <a:chOff x="0" y="0"/>
            <a:chExt cx="3890124" cy="4044366"/>
          </a:xfrm>
        </p:grpSpPr>
        <p:sp>
          <p:nvSpPr>
            <p:cNvPr id="24" name="Freeform 21">
              <a:extLst>
                <a:ext uri="{FF2B5EF4-FFF2-40B4-BE49-F238E27FC236}">
                  <a16:creationId xmlns:a16="http://schemas.microsoft.com/office/drawing/2014/main" id="{402DF5DA-66FF-95AD-1E52-BC417886A072}"/>
                </a:ext>
              </a:extLst>
            </p:cNvPr>
            <p:cNvSpPr/>
            <p:nvPr/>
          </p:nvSpPr>
          <p:spPr>
            <a:xfrm>
              <a:off x="0" y="0"/>
              <a:ext cx="3890137" cy="4044315"/>
            </a:xfrm>
            <a:custGeom>
              <a:avLst/>
              <a:gdLst/>
              <a:ahLst/>
              <a:cxnLst/>
              <a:rect l="l" t="t" r="r" b="b"/>
              <a:pathLst>
                <a:path w="3890137" h="4044315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12078" y="2857500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895600" y="9240705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871046" y="1893761"/>
            <a:ext cx="4012244" cy="641986"/>
            <a:chOff x="0" y="0"/>
            <a:chExt cx="1056723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056723" cy="169083"/>
            </a:xfrm>
            <a:custGeom>
              <a:avLst/>
              <a:gdLst/>
              <a:ahLst/>
              <a:cxnLst/>
              <a:rect l="l" t="t" r="r" b="b"/>
              <a:pathLst>
                <a:path w="1056723" h="169083">
                  <a:moveTo>
                    <a:pt x="84541" y="0"/>
                  </a:moveTo>
                  <a:lnTo>
                    <a:pt x="972181" y="0"/>
                  </a:lnTo>
                  <a:cubicBezTo>
                    <a:pt x="994603" y="0"/>
                    <a:pt x="1016106" y="8907"/>
                    <a:pt x="1031961" y="24762"/>
                  </a:cubicBezTo>
                  <a:cubicBezTo>
                    <a:pt x="1047816" y="40616"/>
                    <a:pt x="1056723" y="62120"/>
                    <a:pt x="1056723" y="84541"/>
                  </a:cubicBezTo>
                  <a:lnTo>
                    <a:pt x="1056723" y="84541"/>
                  </a:lnTo>
                  <a:cubicBezTo>
                    <a:pt x="1056723" y="106963"/>
                    <a:pt x="1047816" y="128467"/>
                    <a:pt x="1031961" y="144321"/>
                  </a:cubicBezTo>
                  <a:cubicBezTo>
                    <a:pt x="1016106" y="160176"/>
                    <a:pt x="994603" y="169083"/>
                    <a:pt x="97218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056723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564806" y="352327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326063" y="1937259"/>
            <a:ext cx="3043594" cy="4887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59"/>
              </a:lnSpc>
              <a:spcBef>
                <a:spcPct val="0"/>
              </a:spcBef>
            </a:pPr>
            <a:r>
              <a:rPr lang="en-US" sz="28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Proposed Solution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94729" y="4801870"/>
            <a:ext cx="13098542" cy="976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are you building?</a:t>
            </a:r>
          </a:p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Clearly explain the proposed solution and how it addresses the identified problem.</a:t>
            </a:r>
          </a:p>
        </p:txBody>
      </p:sp>
      <p:pic>
        <p:nvPicPr>
          <p:cNvPr id="27" name="Picture 2" descr="DEPT OF IT @PVPSIT,VIJAYAWADA | LinkedIn">
            <a:extLst>
              <a:ext uri="{FF2B5EF4-FFF2-40B4-BE49-F238E27FC236}">
                <a16:creationId xmlns:a16="http://schemas.microsoft.com/office/drawing/2014/main" id="{1EA734E0-518D-9E3A-683C-8E4348B8E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28" y="68157"/>
            <a:ext cx="1905000" cy="248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906921" y="1893761"/>
            <a:ext cx="3533419" cy="641986"/>
            <a:chOff x="0" y="0"/>
            <a:chExt cx="930612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30612" cy="169083"/>
            </a:xfrm>
            <a:custGeom>
              <a:avLst/>
              <a:gdLst/>
              <a:ahLst/>
              <a:cxnLst/>
              <a:rect l="l" t="t" r="r" b="b"/>
              <a:pathLst>
                <a:path w="930612" h="169083">
                  <a:moveTo>
                    <a:pt x="84541" y="0"/>
                  </a:moveTo>
                  <a:lnTo>
                    <a:pt x="846071" y="0"/>
                  </a:lnTo>
                  <a:cubicBezTo>
                    <a:pt x="868493" y="0"/>
                    <a:pt x="889996" y="8907"/>
                    <a:pt x="905851" y="24762"/>
                  </a:cubicBezTo>
                  <a:cubicBezTo>
                    <a:pt x="921705" y="40616"/>
                    <a:pt x="930612" y="62120"/>
                    <a:pt x="930612" y="84541"/>
                  </a:cubicBezTo>
                  <a:lnTo>
                    <a:pt x="930612" y="84541"/>
                  </a:lnTo>
                  <a:cubicBezTo>
                    <a:pt x="930612" y="106963"/>
                    <a:pt x="921705" y="128467"/>
                    <a:pt x="905851" y="144321"/>
                  </a:cubicBezTo>
                  <a:cubicBezTo>
                    <a:pt x="889996" y="160176"/>
                    <a:pt x="868493" y="169083"/>
                    <a:pt x="846071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30612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135716" y="-2857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525717" y="8546310"/>
            <a:ext cx="1467166" cy="1525339"/>
            <a:chOff x="0" y="0"/>
            <a:chExt cx="3890124" cy="4044366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3890137" cy="4044315"/>
            </a:xfrm>
            <a:custGeom>
              <a:avLst/>
              <a:gdLst/>
              <a:ahLst/>
              <a:cxnLst/>
              <a:rect l="l" t="t" r="r" b="b"/>
              <a:pathLst>
                <a:path w="3890137" h="4044315">
                  <a:moveTo>
                    <a:pt x="0" y="0"/>
                  </a:moveTo>
                  <a:lnTo>
                    <a:pt x="3890137" y="0"/>
                  </a:lnTo>
                  <a:lnTo>
                    <a:pt x="3890137" y="4044315"/>
                  </a:lnTo>
                  <a:lnTo>
                    <a:pt x="0" y="40443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7514703" y="1963294"/>
            <a:ext cx="2391297" cy="4533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Quantum?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14842" y="4839970"/>
            <a:ext cx="16058316" cy="7893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Why does quantum computing or quantum technology make sense here?</a:t>
            </a:r>
          </a:p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Clearly explain why Quantum is relevant and how it acts as a meaningful methodology or enabler for the proposed solution.</a:t>
            </a:r>
          </a:p>
        </p:txBody>
      </p:sp>
      <p:pic>
        <p:nvPicPr>
          <p:cNvPr id="25" name="Picture 2" descr="DEPT OF IT @PVPSIT,VIJAYAWADA | LinkedIn">
            <a:extLst>
              <a:ext uri="{FF2B5EF4-FFF2-40B4-BE49-F238E27FC236}">
                <a16:creationId xmlns:a16="http://schemas.microsoft.com/office/drawing/2014/main" id="{E49E41D4-E435-BE86-2F16-0638FF33DC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28" y="68157"/>
            <a:ext cx="1905000" cy="248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0E0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5797750" y="1893761"/>
            <a:ext cx="5382396" cy="641986"/>
            <a:chOff x="0" y="0"/>
            <a:chExt cx="1417586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417586" cy="169083"/>
            </a:xfrm>
            <a:custGeom>
              <a:avLst/>
              <a:gdLst/>
              <a:ahLst/>
              <a:cxnLst/>
              <a:rect l="l" t="t" r="r" b="b"/>
              <a:pathLst>
                <a:path w="1417586" h="169083">
                  <a:moveTo>
                    <a:pt x="84541" y="0"/>
                  </a:moveTo>
                  <a:lnTo>
                    <a:pt x="1333045" y="0"/>
                  </a:lnTo>
                  <a:cubicBezTo>
                    <a:pt x="1355466" y="0"/>
                    <a:pt x="1376970" y="8907"/>
                    <a:pt x="1392824" y="24762"/>
                  </a:cubicBezTo>
                  <a:cubicBezTo>
                    <a:pt x="1408679" y="40616"/>
                    <a:pt x="1417586" y="62120"/>
                    <a:pt x="1417586" y="84541"/>
                  </a:cubicBezTo>
                  <a:lnTo>
                    <a:pt x="1417586" y="84541"/>
                  </a:lnTo>
                  <a:cubicBezTo>
                    <a:pt x="1417586" y="106963"/>
                    <a:pt x="1408679" y="128467"/>
                    <a:pt x="1392824" y="144321"/>
                  </a:cubicBezTo>
                  <a:cubicBezTo>
                    <a:pt x="1376970" y="160176"/>
                    <a:pt x="1355466" y="169083"/>
                    <a:pt x="1333045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FA7CB5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417586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sp>
        <p:nvSpPr>
          <p:cNvPr id="22" name="TextBox 22"/>
          <p:cNvSpPr txBox="1"/>
          <p:nvPr/>
        </p:nvSpPr>
        <p:spPr>
          <a:xfrm>
            <a:off x="6298992" y="1988059"/>
            <a:ext cx="4566285" cy="405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Implementation and Architecture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31188" y="4609465"/>
            <a:ext cx="16387524" cy="7632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How is the solution implemented?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Explain the architecture, technology stack, quantum components, classical components, and how the different parts work together.</a:t>
            </a:r>
          </a:p>
        </p:txBody>
      </p:sp>
      <p:pic>
        <p:nvPicPr>
          <p:cNvPr id="25" name="Picture 2" descr="DEPT OF IT @PVPSIT,VIJAYAWADA | LinkedIn">
            <a:extLst>
              <a:ext uri="{FF2B5EF4-FFF2-40B4-BE49-F238E27FC236}">
                <a16:creationId xmlns:a16="http://schemas.microsoft.com/office/drawing/2014/main" id="{F579AE17-ED5A-88F0-DD83-EF204AD28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28" y="68157"/>
            <a:ext cx="1905000" cy="248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7045033" y="1893761"/>
            <a:ext cx="3482300" cy="641986"/>
            <a:chOff x="0" y="0"/>
            <a:chExt cx="917149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17149" cy="169083"/>
            </a:xfrm>
            <a:custGeom>
              <a:avLst/>
              <a:gdLst/>
              <a:ahLst/>
              <a:cxnLst/>
              <a:rect l="l" t="t" r="r" b="b"/>
              <a:pathLst>
                <a:path w="917149" h="169083">
                  <a:moveTo>
                    <a:pt x="84541" y="0"/>
                  </a:moveTo>
                  <a:lnTo>
                    <a:pt x="832608" y="0"/>
                  </a:lnTo>
                  <a:cubicBezTo>
                    <a:pt x="855029" y="0"/>
                    <a:pt x="876533" y="8907"/>
                    <a:pt x="892387" y="24762"/>
                  </a:cubicBezTo>
                  <a:cubicBezTo>
                    <a:pt x="908242" y="40616"/>
                    <a:pt x="917149" y="62120"/>
                    <a:pt x="917149" y="84541"/>
                  </a:cubicBezTo>
                  <a:lnTo>
                    <a:pt x="917149" y="84541"/>
                  </a:lnTo>
                  <a:cubicBezTo>
                    <a:pt x="917149" y="106963"/>
                    <a:pt x="908242" y="128467"/>
                    <a:pt x="892387" y="144321"/>
                  </a:cubicBezTo>
                  <a:cubicBezTo>
                    <a:pt x="876533" y="160176"/>
                    <a:pt x="855029" y="169083"/>
                    <a:pt x="832608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917149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564806" y="352327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247004" y="1973065"/>
            <a:ext cx="3193335" cy="4051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Results / Validation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098357" y="4278023"/>
            <a:ext cx="14015085" cy="18516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are the expected results or expected outcome?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have you already validated or obtained?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Include the findings, results, observations, experiments, simulations, research, or other validation carried out through</a:t>
            </a:r>
          </a:p>
          <a:p>
            <a:pPr algn="ctr">
              <a:lnSpc>
                <a:spcPts val="2939"/>
              </a:lnSpc>
            </a:pPr>
            <a:r>
              <a:rPr lang="en-US" sz="20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the prototype or development work.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  <a:endParaRPr lang="en-US" sz="2099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7" name="Picture 2" descr="DEPT OF IT @PVPSIT,VIJAYAWADA | LinkedIn">
            <a:extLst>
              <a:ext uri="{FF2B5EF4-FFF2-40B4-BE49-F238E27FC236}">
                <a16:creationId xmlns:a16="http://schemas.microsoft.com/office/drawing/2014/main" id="{BFA1E0D5-1083-74F4-D06E-3633E1051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28" y="68157"/>
            <a:ext cx="1905000" cy="248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48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97105" y="2516808"/>
            <a:ext cx="2625805" cy="830953"/>
            <a:chOff x="0" y="0"/>
            <a:chExt cx="5816600" cy="18407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2928206" y="9780631"/>
            <a:ext cx="2625805" cy="830953"/>
            <a:chOff x="0" y="0"/>
            <a:chExt cx="5816600" cy="184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6" name="Group 6"/>
          <p:cNvGrpSpPr/>
          <p:nvPr/>
        </p:nvGrpSpPr>
        <p:grpSpPr>
          <a:xfrm>
            <a:off x="13367623" y="9656173"/>
            <a:ext cx="2625805" cy="830953"/>
            <a:chOff x="0" y="0"/>
            <a:chExt cx="5816600" cy="18407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grpSp>
        <p:nvGrpSpPr>
          <p:cNvPr id="14" name="Group 14"/>
          <p:cNvGrpSpPr/>
          <p:nvPr/>
        </p:nvGrpSpPr>
        <p:grpSpPr>
          <a:xfrm>
            <a:off x="6675310" y="1893761"/>
            <a:ext cx="4381968" cy="641986"/>
            <a:chOff x="0" y="0"/>
            <a:chExt cx="1154099" cy="16908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54099" cy="169083"/>
            </a:xfrm>
            <a:custGeom>
              <a:avLst/>
              <a:gdLst/>
              <a:ahLst/>
              <a:cxnLst/>
              <a:rect l="l" t="t" r="r" b="b"/>
              <a:pathLst>
                <a:path w="1154099" h="169083">
                  <a:moveTo>
                    <a:pt x="84541" y="0"/>
                  </a:moveTo>
                  <a:lnTo>
                    <a:pt x="1069557" y="0"/>
                  </a:lnTo>
                  <a:cubicBezTo>
                    <a:pt x="1091979" y="0"/>
                    <a:pt x="1113482" y="8907"/>
                    <a:pt x="1129337" y="24762"/>
                  </a:cubicBezTo>
                  <a:cubicBezTo>
                    <a:pt x="1145192" y="40616"/>
                    <a:pt x="1154099" y="62120"/>
                    <a:pt x="1154099" y="84541"/>
                  </a:cubicBezTo>
                  <a:lnTo>
                    <a:pt x="1154099" y="84541"/>
                  </a:lnTo>
                  <a:cubicBezTo>
                    <a:pt x="1154099" y="106963"/>
                    <a:pt x="1145192" y="128467"/>
                    <a:pt x="1129337" y="144321"/>
                  </a:cubicBezTo>
                  <a:cubicBezTo>
                    <a:pt x="1113482" y="160176"/>
                    <a:pt x="1091979" y="169083"/>
                    <a:pt x="1069557" y="169083"/>
                  </a:cubicBezTo>
                  <a:lnTo>
                    <a:pt x="84541" y="169083"/>
                  </a:lnTo>
                  <a:cubicBezTo>
                    <a:pt x="62120" y="169083"/>
                    <a:pt x="40616" y="160176"/>
                    <a:pt x="24762" y="144321"/>
                  </a:cubicBezTo>
                  <a:cubicBezTo>
                    <a:pt x="8907" y="128467"/>
                    <a:pt x="0" y="106963"/>
                    <a:pt x="0" y="84541"/>
                  </a:cubicBezTo>
                  <a:lnTo>
                    <a:pt x="0" y="84541"/>
                  </a:lnTo>
                  <a:cubicBezTo>
                    <a:pt x="0" y="62120"/>
                    <a:pt x="8907" y="40616"/>
                    <a:pt x="24762" y="24762"/>
                  </a:cubicBezTo>
                  <a:cubicBezTo>
                    <a:pt x="40616" y="8907"/>
                    <a:pt x="62120" y="0"/>
                    <a:pt x="84541" y="0"/>
                  </a:cubicBez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1154099" cy="1976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13002366" y="-47625"/>
            <a:ext cx="5063940" cy="1941386"/>
          </a:xfrm>
          <a:custGeom>
            <a:avLst/>
            <a:gdLst/>
            <a:ahLst/>
            <a:cxnLst/>
            <a:rect l="l" t="t" r="r" b="b"/>
            <a:pathLst>
              <a:path w="5063940" h="1941386">
                <a:moveTo>
                  <a:pt x="0" y="0"/>
                </a:moveTo>
                <a:lnTo>
                  <a:pt x="5063940" y="0"/>
                </a:lnTo>
                <a:lnTo>
                  <a:pt x="5063940" y="1941386"/>
                </a:lnTo>
                <a:lnTo>
                  <a:pt x="0" y="1941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20" name="Group 20"/>
          <p:cNvGrpSpPr/>
          <p:nvPr/>
        </p:nvGrpSpPr>
        <p:grpSpPr>
          <a:xfrm>
            <a:off x="16388711" y="8987334"/>
            <a:ext cx="1677594" cy="1065265"/>
            <a:chOff x="0" y="0"/>
            <a:chExt cx="4028567" cy="255812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028567" cy="2558161"/>
            </a:xfrm>
            <a:custGeom>
              <a:avLst/>
              <a:gdLst/>
              <a:ahLst/>
              <a:cxnLst/>
              <a:rect l="l" t="t" r="r" b="b"/>
              <a:pathLst>
                <a:path w="4028567" h="2558161">
                  <a:moveTo>
                    <a:pt x="0" y="0"/>
                  </a:moveTo>
                  <a:lnTo>
                    <a:pt x="4028567" y="0"/>
                  </a:lnTo>
                  <a:lnTo>
                    <a:pt x="4028567" y="2558161"/>
                  </a:lnTo>
                  <a:lnTo>
                    <a:pt x="0" y="25581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22" name="Group 22"/>
          <p:cNvGrpSpPr/>
          <p:nvPr/>
        </p:nvGrpSpPr>
        <p:grpSpPr>
          <a:xfrm>
            <a:off x="16564806" y="3523271"/>
            <a:ext cx="2625805" cy="830953"/>
            <a:chOff x="0" y="0"/>
            <a:chExt cx="5816600" cy="18407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816600" cy="1840738"/>
            </a:xfrm>
            <a:custGeom>
              <a:avLst/>
              <a:gdLst/>
              <a:ahLst/>
              <a:cxnLst/>
              <a:rect l="l" t="t" r="r" b="b"/>
              <a:pathLst>
                <a:path w="5816600" h="1840738">
                  <a:moveTo>
                    <a:pt x="0" y="0"/>
                  </a:moveTo>
                  <a:lnTo>
                    <a:pt x="5816600" y="0"/>
                  </a:lnTo>
                  <a:lnTo>
                    <a:pt x="5816600" y="1840738"/>
                  </a:lnTo>
                  <a:lnTo>
                    <a:pt x="0" y="18407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b="2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7391149" y="2009332"/>
            <a:ext cx="3136184" cy="3697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References and Sources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566803" y="4911911"/>
            <a:ext cx="15154395" cy="719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 dirty="0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Mention the research papers, repositories, documentation, datasets, or other sources referred to while developing the solution.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9FEB966-51E8-E5EF-1B17-B1490AC7C115}"/>
              </a:ext>
            </a:extLst>
          </p:cNvPr>
          <p:cNvSpPr txBox="1"/>
          <p:nvPr/>
        </p:nvSpPr>
        <p:spPr>
          <a:xfrm>
            <a:off x="187926" y="8314202"/>
            <a:ext cx="107321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NOTE : CHANGE THE SLIDE HEADINGS ACCORDING TO THE CONCEPT PRESENTATION.</a:t>
            </a:r>
          </a:p>
          <a:p>
            <a:r>
              <a:rPr lang="en-US" sz="2400" dirty="0"/>
              <a:t>                                                            OR </a:t>
            </a:r>
          </a:p>
          <a:p>
            <a:r>
              <a:rPr lang="en-US" sz="2400" dirty="0"/>
              <a:t>             USE THE SAME HEADING OF THE SLIDES FOR THE IDEA PRESENTATION </a:t>
            </a:r>
          </a:p>
        </p:txBody>
      </p:sp>
      <p:pic>
        <p:nvPicPr>
          <p:cNvPr id="28" name="Picture 2" descr="DEPT OF IT @PVPSIT,VIJAYAWADA | LinkedIn">
            <a:extLst>
              <a:ext uri="{FF2B5EF4-FFF2-40B4-BE49-F238E27FC236}">
                <a16:creationId xmlns:a16="http://schemas.microsoft.com/office/drawing/2014/main" id="{8276A74C-9C60-1F9F-A30B-9725364134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128" y="68157"/>
            <a:ext cx="1905000" cy="2489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248</Words>
  <Application>Microsoft Office PowerPoint</Application>
  <PresentationFormat>Custom</PresentationFormat>
  <Paragraphs>31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Plus Jakarta Sans</vt:lpstr>
      <vt:lpstr>Arial</vt:lpstr>
      <vt:lpstr>Calibri</vt:lpstr>
      <vt:lpstr>IBM Plex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Q-Hack_India26</dc:title>
  <dc:creator>dell</dc:creator>
  <cp:lastModifiedBy>dell</cp:lastModifiedBy>
  <cp:revision>17</cp:revision>
  <dcterms:created xsi:type="dcterms:W3CDTF">2006-08-16T00:00:00Z</dcterms:created>
  <dcterms:modified xsi:type="dcterms:W3CDTF">2026-10-10T05:55:23Z</dcterms:modified>
  <dc:identifier>DAHWTXXNjRc</dc:identifier>
</cp:coreProperties>
</file>